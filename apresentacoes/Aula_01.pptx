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Ubuntu"/>
      <p:regular r:id="rId18"/>
      <p:bold r:id="rId19"/>
      <p:italic r:id="rId20"/>
      <p:boldItalic r:id="rId21"/>
    </p:embeddedFont>
    <p:embeddedFont>
      <p:font typeface="DM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buntu-italic.fntdata"/><Relationship Id="rId22" Type="http://schemas.openxmlformats.org/officeDocument/2006/relationships/font" Target="fonts/DMSans-regular.fntdata"/><Relationship Id="rId21" Type="http://schemas.openxmlformats.org/officeDocument/2006/relationships/font" Target="fonts/Ubuntu-boldItalic.fntdata"/><Relationship Id="rId24" Type="http://schemas.openxmlformats.org/officeDocument/2006/relationships/font" Target="fonts/DMSans-italic.fntdata"/><Relationship Id="rId23" Type="http://schemas.openxmlformats.org/officeDocument/2006/relationships/font" Target="fonts/DM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DM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Ubuntu-bold.fntdata"/><Relationship Id="rId18" Type="http://schemas.openxmlformats.org/officeDocument/2006/relationships/font" Target="fonts/Ubuntu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1b5da8c3f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f1b5da8c3f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1b5da8c3f_1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f1b5da8c3f_1_2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1b5da8c3f_1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f1b5da8c3f_1_2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195637" y="3790950"/>
            <a:ext cx="580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Vamos  nos conhecer?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70471" y="2447925"/>
            <a:ext cx="8451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Apresentação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981075" y="2404887"/>
            <a:ext cx="104175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3375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Ubuntu"/>
              <a:buChar char="●"/>
            </a:pPr>
            <a:r>
              <a:rPr lang="en-US" sz="1650">
                <a:latin typeface="Ubuntu"/>
                <a:ea typeface="Ubuntu"/>
                <a:cs typeface="Ubuntu"/>
                <a:sym typeface="Ubuntu"/>
              </a:rPr>
              <a:t>Meu nome é Thiago, nasci em São João de Meriti - RJ e  moro em Juiz de Fora - MG.</a:t>
            </a:r>
            <a:endParaRPr sz="1650">
              <a:latin typeface="Ubuntu"/>
              <a:ea typeface="Ubuntu"/>
              <a:cs typeface="Ubuntu"/>
              <a:sym typeface="Ubuntu"/>
            </a:endParaRPr>
          </a:p>
          <a:p>
            <a:pPr indent="-333375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Ubuntu"/>
              <a:buChar char="●"/>
            </a:pPr>
            <a:r>
              <a:rPr lang="en-US" sz="1650">
                <a:latin typeface="Ubuntu"/>
                <a:ea typeface="Ubuntu"/>
                <a:cs typeface="Ubuntu"/>
                <a:sym typeface="Ubuntu"/>
              </a:rPr>
              <a:t>Sou casado com a Cyntia e tenho 2 filhos (Thomas e Cecília)</a:t>
            </a:r>
            <a:endParaRPr sz="1650">
              <a:latin typeface="Ubuntu"/>
              <a:ea typeface="Ubuntu"/>
              <a:cs typeface="Ubuntu"/>
              <a:sym typeface="Ubuntu"/>
            </a:endParaRPr>
          </a:p>
          <a:p>
            <a:pPr indent="-333375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Ubuntu"/>
              <a:buChar char="●"/>
            </a:pPr>
            <a:r>
              <a:rPr lang="en-US" sz="1650">
                <a:latin typeface="Ubuntu"/>
                <a:ea typeface="Ubuntu"/>
                <a:cs typeface="Ubuntu"/>
                <a:sym typeface="Ubuntu"/>
              </a:rPr>
              <a:t>Tenho 2 gatos (Mao-Mao e Boris)</a:t>
            </a:r>
            <a:endParaRPr sz="1650">
              <a:latin typeface="Ubuntu"/>
              <a:ea typeface="Ubuntu"/>
              <a:cs typeface="Ubuntu"/>
              <a:sym typeface="Ubuntu"/>
            </a:endParaRPr>
          </a:p>
          <a:p>
            <a:pPr indent="-333375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Ubuntu"/>
              <a:buChar char="●"/>
            </a:pPr>
            <a:r>
              <a:rPr lang="en-US" sz="1650">
                <a:latin typeface="Ubuntu"/>
                <a:ea typeface="Ubuntu"/>
                <a:cs typeface="Ubuntu"/>
                <a:sym typeface="Ubuntu"/>
              </a:rPr>
              <a:t>Sou professor e analista de sistemas</a:t>
            </a:r>
            <a:endParaRPr sz="1650">
              <a:latin typeface="Ubuntu"/>
              <a:ea typeface="Ubuntu"/>
              <a:cs typeface="Ubuntu"/>
              <a:sym typeface="Ubuntu"/>
            </a:endParaRPr>
          </a:p>
          <a:p>
            <a:pPr indent="-333375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Ubuntu"/>
              <a:buChar char="●"/>
            </a:pPr>
            <a:r>
              <a:rPr lang="en-US" sz="1650">
                <a:latin typeface="Ubuntu"/>
                <a:ea typeface="Ubuntu"/>
                <a:cs typeface="Ubuntu"/>
                <a:sym typeface="Ubuntu"/>
              </a:rPr>
              <a:t>Adoro assistir animes</a:t>
            </a:r>
            <a:endParaRPr sz="1650">
              <a:latin typeface="Ubuntu"/>
              <a:ea typeface="Ubuntu"/>
              <a:cs typeface="Ubuntu"/>
              <a:sym typeface="Ubuntu"/>
            </a:endParaRPr>
          </a:p>
          <a:p>
            <a:pPr indent="-333375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Ubuntu"/>
              <a:buChar char="●"/>
            </a:pPr>
            <a:r>
              <a:rPr lang="en-US" sz="1650">
                <a:latin typeface="Ubuntu"/>
                <a:ea typeface="Ubuntu"/>
                <a:cs typeface="Ubuntu"/>
                <a:sym typeface="Ubuntu"/>
              </a:rPr>
              <a:t>Gosto de passear com a minha família, receber amigos em casa e estudar</a:t>
            </a:r>
            <a:br>
              <a:rPr lang="en-US" sz="1650">
                <a:latin typeface="Ubuntu"/>
                <a:ea typeface="Ubuntu"/>
                <a:cs typeface="Ubuntu"/>
                <a:sym typeface="Ubuntu"/>
              </a:rPr>
            </a:b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571500" y="571500"/>
            <a:ext cx="363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5088"/>
                </a:solidFill>
                <a:latin typeface="Ubuntu"/>
                <a:ea typeface="Ubuntu"/>
                <a:cs typeface="Ubuntu"/>
                <a:sym typeface="Ubuntu"/>
              </a:rPr>
              <a:t>Quem sou eu?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571500" y="1143000"/>
            <a:ext cx="3457575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671750"/>
            <a:ext cx="4878875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075" y="2671750"/>
            <a:ext cx="5058125" cy="24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2544244" y="3549587"/>
            <a:ext cx="153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05088"/>
                </a:solidFill>
                <a:latin typeface="Ubuntu"/>
                <a:ea typeface="Ubuntu"/>
                <a:cs typeface="Ubuntu"/>
                <a:sym typeface="Ubuntu"/>
              </a:rPr>
              <a:t>Sim</a:t>
            </a:r>
            <a:endParaRPr sz="48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8740802" y="3549575"/>
            <a:ext cx="2198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05088"/>
                </a:solidFill>
                <a:latin typeface="Ubuntu"/>
                <a:ea typeface="Ubuntu"/>
                <a:cs typeface="Ubuntu"/>
                <a:sym typeface="Ubuntu"/>
              </a:rPr>
              <a:t>Não</a:t>
            </a:r>
            <a:endParaRPr sz="4800"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9275" y="3569925"/>
            <a:ext cx="610975" cy="698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34463" y="3606978"/>
            <a:ext cx="702100" cy="62408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571500" y="571500"/>
            <a:ext cx="1028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5088"/>
                </a:solidFill>
                <a:latin typeface="Ubuntu"/>
                <a:ea typeface="Ubuntu"/>
                <a:cs typeface="Ubuntu"/>
                <a:sym typeface="Ubuntu"/>
              </a:rPr>
              <a:t>Vocês gostariam de se apresentar?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571500" y="1143000"/>
            <a:ext cx="97917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/>
        </p:nvSpPr>
        <p:spPr>
          <a:xfrm>
            <a:off x="571500" y="571500"/>
            <a:ext cx="535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5088"/>
                </a:solidFill>
                <a:latin typeface="Ubuntu"/>
                <a:ea typeface="Ubuntu"/>
                <a:cs typeface="Ubuntu"/>
                <a:sym typeface="Ubuntu"/>
              </a:rPr>
              <a:t>Quadro de informações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571500" y="1143000"/>
            <a:ext cx="5095875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5825" y="1397050"/>
            <a:ext cx="4838700" cy="484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 txBox="1"/>
          <p:nvPr/>
        </p:nvSpPr>
        <p:spPr>
          <a:xfrm>
            <a:off x="571500" y="571500"/>
            <a:ext cx="4720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5088"/>
                </a:solidFill>
                <a:latin typeface="Ubuntu"/>
                <a:ea typeface="Ubuntu"/>
                <a:cs typeface="Ubuntu"/>
                <a:sym typeface="Ubuntu"/>
              </a:rPr>
              <a:t>Formato das aulas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571500" y="1143000"/>
            <a:ext cx="44958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5825" y="1397050"/>
            <a:ext cx="4942671" cy="484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8"/>
          <p:cNvSpPr txBox="1"/>
          <p:nvPr/>
        </p:nvSpPr>
        <p:spPr>
          <a:xfrm>
            <a:off x="1818321" y="2505450"/>
            <a:ext cx="8451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Vamos falar sobre ferramentas?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 txBox="1"/>
          <p:nvPr/>
        </p:nvSpPr>
        <p:spPr>
          <a:xfrm>
            <a:off x="571500" y="1428750"/>
            <a:ext cx="110490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Podemos utilizar o editor de códigos da sua preferência.</a:t>
            </a:r>
            <a:endParaRPr b="0" i="0" sz="1800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571500" y="571500"/>
            <a:ext cx="723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5088"/>
                </a:solidFill>
                <a:latin typeface="Ubuntu"/>
                <a:ea typeface="Ubuntu"/>
                <a:cs typeface="Ubuntu"/>
                <a:sym typeface="Ubuntu"/>
              </a:rPr>
              <a:t>Editor de códigos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571500" y="1143000"/>
            <a:ext cx="6886500" cy="28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6" name="Google Shape;136;p19"/>
          <p:cNvGrpSpPr/>
          <p:nvPr/>
        </p:nvGrpSpPr>
        <p:grpSpPr>
          <a:xfrm>
            <a:off x="571500" y="2286000"/>
            <a:ext cx="11049000" cy="2667000"/>
            <a:chOff x="571500" y="2286000"/>
            <a:chExt cx="11049000" cy="2667000"/>
          </a:xfrm>
        </p:grpSpPr>
        <p:sp>
          <p:nvSpPr>
            <p:cNvPr id="137" name="Google Shape;137;p19"/>
            <p:cNvSpPr/>
            <p:nvPr/>
          </p:nvSpPr>
          <p:spPr>
            <a:xfrm>
              <a:off x="571500" y="2286000"/>
              <a:ext cx="2095500" cy="2667000"/>
            </a:xfrm>
            <a:prstGeom prst="roundRect">
              <a:avLst>
                <a:gd fmla="val 6818" name="adj"/>
              </a:avLst>
            </a:prstGeom>
            <a:solidFill>
              <a:srgbClr val="FFFFFF"/>
            </a:solidFill>
            <a:ln cap="flat" cmpd="sng" w="9525">
              <a:solidFill>
                <a:srgbClr val="0050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9"/>
            <p:cNvSpPr txBox="1"/>
            <p:nvPr/>
          </p:nvSpPr>
          <p:spPr>
            <a:xfrm>
              <a:off x="571500" y="2286000"/>
              <a:ext cx="2095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11CAA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endParaRPr sz="4800">
                <a:solidFill>
                  <a:srgbClr val="11CAA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5088"/>
                  </a:solidFill>
                  <a:latin typeface="Ubuntu"/>
                  <a:ea typeface="Ubuntu"/>
                  <a:cs typeface="Ubuntu"/>
                  <a:sym typeface="Ubuntu"/>
                </a:rPr>
                <a:t>VS Code</a:t>
              </a:r>
              <a:endParaRPr b="1" sz="1600">
                <a:solidFill>
                  <a:srgbClr val="005088"/>
                </a:solidFill>
                <a:latin typeface="Ubuntu"/>
                <a:ea typeface="Ubuntu"/>
                <a:cs typeface="Ubuntu"/>
                <a:sym typeface="Ubuntu"/>
              </a:endParaRPr>
            </a:p>
          </p:txBody>
        </p:sp>
        <p:sp>
          <p:nvSpPr>
            <p:cNvPr id="139" name="Google Shape;139;p19"/>
            <p:cNvSpPr/>
            <p:nvPr/>
          </p:nvSpPr>
          <p:spPr>
            <a:xfrm>
              <a:off x="2857500" y="2286000"/>
              <a:ext cx="2095500" cy="2667000"/>
            </a:xfrm>
            <a:prstGeom prst="roundRect">
              <a:avLst>
                <a:gd fmla="val 6818" name="adj"/>
              </a:avLst>
            </a:prstGeom>
            <a:solidFill>
              <a:srgbClr val="FFFFFF"/>
            </a:solidFill>
            <a:ln cap="flat" cmpd="sng" w="9525">
              <a:solidFill>
                <a:srgbClr val="0050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9"/>
            <p:cNvSpPr txBox="1"/>
            <p:nvPr/>
          </p:nvSpPr>
          <p:spPr>
            <a:xfrm>
              <a:off x="2857500" y="2286000"/>
              <a:ext cx="2095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11CAA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subject</a:t>
              </a:r>
              <a:endParaRPr sz="4800">
                <a:solidFill>
                  <a:srgbClr val="11CAA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5088"/>
                  </a:solidFill>
                  <a:latin typeface="Ubuntu"/>
                  <a:ea typeface="Ubuntu"/>
                  <a:cs typeface="Ubuntu"/>
                  <a:sym typeface="Ubuntu"/>
                </a:rPr>
                <a:t>Sublime Text</a:t>
              </a:r>
              <a:endParaRPr b="1" sz="1600">
                <a:solidFill>
                  <a:srgbClr val="005088"/>
                </a:solidFill>
                <a:latin typeface="Ubuntu"/>
                <a:ea typeface="Ubuntu"/>
                <a:cs typeface="Ubuntu"/>
                <a:sym typeface="Ubuntu"/>
              </a:endParaRPr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5143500" y="2286000"/>
              <a:ext cx="2095500" cy="2667000"/>
            </a:xfrm>
            <a:prstGeom prst="roundRect">
              <a:avLst>
                <a:gd fmla="val 6818" name="adj"/>
              </a:avLst>
            </a:prstGeom>
            <a:solidFill>
              <a:srgbClr val="FFFFFF"/>
            </a:solidFill>
            <a:ln cap="flat" cmpd="sng" w="9525">
              <a:solidFill>
                <a:srgbClr val="0050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9"/>
            <p:cNvSpPr txBox="1"/>
            <p:nvPr/>
          </p:nvSpPr>
          <p:spPr>
            <a:xfrm>
              <a:off x="5143500" y="2286000"/>
              <a:ext cx="2095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11CAA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note_add</a:t>
              </a:r>
              <a:endParaRPr sz="4800">
                <a:solidFill>
                  <a:srgbClr val="11CAA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5088"/>
                  </a:solidFill>
                  <a:latin typeface="Ubuntu"/>
                  <a:ea typeface="Ubuntu"/>
                  <a:cs typeface="Ubuntu"/>
                  <a:sym typeface="Ubuntu"/>
                </a:rPr>
                <a:t>Notepad++</a:t>
              </a:r>
              <a:endParaRPr b="1" sz="1600">
                <a:solidFill>
                  <a:srgbClr val="005088"/>
                </a:solidFill>
                <a:latin typeface="Ubuntu"/>
                <a:ea typeface="Ubuntu"/>
                <a:cs typeface="Ubuntu"/>
                <a:sym typeface="Ubuntu"/>
              </a:endParaRPr>
            </a:p>
          </p:txBody>
        </p:sp>
        <p:sp>
          <p:nvSpPr>
            <p:cNvPr id="143" name="Google Shape;143;p19"/>
            <p:cNvSpPr/>
            <p:nvPr/>
          </p:nvSpPr>
          <p:spPr>
            <a:xfrm>
              <a:off x="7429500" y="2286000"/>
              <a:ext cx="2095500" cy="2667000"/>
            </a:xfrm>
            <a:prstGeom prst="roundRect">
              <a:avLst>
                <a:gd fmla="val 6818" name="adj"/>
              </a:avLst>
            </a:prstGeom>
            <a:solidFill>
              <a:srgbClr val="FFFFFF"/>
            </a:solidFill>
            <a:ln cap="flat" cmpd="sng" w="9525">
              <a:solidFill>
                <a:srgbClr val="0050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9"/>
            <p:cNvSpPr txBox="1"/>
            <p:nvPr/>
          </p:nvSpPr>
          <p:spPr>
            <a:xfrm>
              <a:off x="7429500" y="2286000"/>
              <a:ext cx="2095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11CAA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rocket_launch</a:t>
              </a:r>
              <a:endParaRPr sz="4800">
                <a:solidFill>
                  <a:srgbClr val="11CAA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5088"/>
                  </a:solidFill>
                  <a:latin typeface="Ubuntu"/>
                  <a:ea typeface="Ubuntu"/>
                  <a:cs typeface="Ubuntu"/>
                  <a:sym typeface="Ubuntu"/>
                </a:rPr>
                <a:t>Antigravity</a:t>
              </a:r>
              <a:endParaRPr b="1" sz="1600">
                <a:solidFill>
                  <a:srgbClr val="005088"/>
                </a:solidFill>
                <a:latin typeface="Ubuntu"/>
                <a:ea typeface="Ubuntu"/>
                <a:cs typeface="Ubuntu"/>
                <a:sym typeface="Ubuntu"/>
              </a:endParaRPr>
            </a:p>
          </p:txBody>
        </p:sp>
        <p:sp>
          <p:nvSpPr>
            <p:cNvPr id="145" name="Google Shape;145;p19"/>
            <p:cNvSpPr/>
            <p:nvPr/>
          </p:nvSpPr>
          <p:spPr>
            <a:xfrm>
              <a:off x="9715500" y="2286000"/>
              <a:ext cx="1905000" cy="2667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9525">
              <a:solidFill>
                <a:srgbClr val="0050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9"/>
            <p:cNvSpPr txBox="1"/>
            <p:nvPr/>
          </p:nvSpPr>
          <p:spPr>
            <a:xfrm>
              <a:off x="9715500" y="2286000"/>
              <a:ext cx="1905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11CAA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ads_click</a:t>
              </a:r>
              <a:endParaRPr sz="4800">
                <a:solidFill>
                  <a:srgbClr val="11CAA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5088"/>
                  </a:solidFill>
                  <a:latin typeface="Ubuntu"/>
                  <a:ea typeface="Ubuntu"/>
                  <a:cs typeface="Ubuntu"/>
                  <a:sym typeface="Ubuntu"/>
                </a:rPr>
                <a:t>Cursor</a:t>
              </a:r>
              <a:endParaRPr b="1" sz="1600">
                <a:solidFill>
                  <a:srgbClr val="005088"/>
                </a:solidFill>
                <a:latin typeface="Ubuntu"/>
                <a:ea typeface="Ubuntu"/>
                <a:cs typeface="Ubuntu"/>
                <a:sym typeface="Ubuntu"/>
              </a:endParaRPr>
            </a:p>
          </p:txBody>
        </p:sp>
      </p:grpSp>
      <p:sp>
        <p:nvSpPr>
          <p:cNvPr id="147" name="Google Shape;147;p19"/>
          <p:cNvSpPr txBox="1"/>
          <p:nvPr/>
        </p:nvSpPr>
        <p:spPr>
          <a:xfrm>
            <a:off x="571500" y="6254500"/>
            <a:ext cx="110490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Eu utilizo o </a:t>
            </a:r>
            <a:r>
              <a:rPr b="1" lang="en-US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Visual Studio Code</a:t>
            </a:r>
            <a:r>
              <a:rPr lang="en-US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ou </a:t>
            </a:r>
            <a:r>
              <a:rPr b="1" lang="en-US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Antigravity</a:t>
            </a:r>
            <a:endParaRPr b="1" i="0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0"/>
          <p:cNvSpPr txBox="1"/>
          <p:nvPr/>
        </p:nvSpPr>
        <p:spPr>
          <a:xfrm>
            <a:off x="571500" y="571500"/>
            <a:ext cx="550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5088"/>
                </a:solidFill>
                <a:latin typeface="Ubuntu"/>
                <a:ea typeface="Ubuntu"/>
                <a:cs typeface="Ubuntu"/>
                <a:sym typeface="Ubuntu"/>
              </a:rPr>
              <a:t>Caso utilize o Vscode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571500" y="1143000"/>
            <a:ext cx="523875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584550" y="1555325"/>
            <a:ext cx="868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Eu utilizo algumas extensões para ajudar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699375" y="2327750"/>
            <a:ext cx="6012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Prettier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Eslint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Thunder Client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1"/>
          <p:cNvSpPr txBox="1"/>
          <p:nvPr/>
        </p:nvSpPr>
        <p:spPr>
          <a:xfrm>
            <a:off x="571500" y="571500"/>
            <a:ext cx="768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5088"/>
                </a:solidFill>
                <a:latin typeface="Ubuntu"/>
                <a:ea typeface="Ubuntu"/>
                <a:cs typeface="Ubuntu"/>
                <a:sym typeface="Ubuntu"/>
              </a:rPr>
              <a:t>Nodejs - O que é?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63" name="Google Shape;163;p21"/>
          <p:cNvSpPr/>
          <p:nvPr/>
        </p:nvSpPr>
        <p:spPr>
          <a:xfrm>
            <a:off x="571500" y="1143000"/>
            <a:ext cx="73152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1"/>
          <p:cNvSpPr txBox="1"/>
          <p:nvPr/>
        </p:nvSpPr>
        <p:spPr>
          <a:xfrm>
            <a:off x="594975" y="1722325"/>
            <a:ext cx="9426000" cy="4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plataforma de código aberto que utiliza JavaScript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Criada por volta de 2009 por Ryan Dahl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 o V8 como engine, que compila javascript em código de máquina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muito rápido, sendo utilizado para criar API`s robustas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2"/>
          <p:cNvSpPr txBox="1"/>
          <p:nvPr/>
        </p:nvSpPr>
        <p:spPr>
          <a:xfrm>
            <a:off x="571500" y="571500"/>
            <a:ext cx="681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5088"/>
                </a:solidFill>
                <a:latin typeface="Ubuntu"/>
                <a:ea typeface="Ubuntu"/>
                <a:cs typeface="Ubuntu"/>
                <a:sym typeface="Ubuntu"/>
              </a:rPr>
              <a:t>Ferramentas que utilizaremos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71" name="Google Shape;171;p22"/>
          <p:cNvSpPr/>
          <p:nvPr/>
        </p:nvSpPr>
        <p:spPr>
          <a:xfrm>
            <a:off x="571500" y="1143000"/>
            <a:ext cx="7243800" cy="39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574100" y="1784950"/>
            <a:ext cx="103443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NPM - Gerenciador de pacotes do nodejs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Express - Framework utilizado para criar API`s de forma rápida.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3"/>
          <p:cNvSpPr txBox="1"/>
          <p:nvPr/>
        </p:nvSpPr>
        <p:spPr>
          <a:xfrm>
            <a:off x="1818321" y="2505450"/>
            <a:ext cx="8451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Vamos instalar as ferramentas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79" name="Google Shape;179;p23"/>
          <p:cNvSpPr txBox="1"/>
          <p:nvPr/>
        </p:nvSpPr>
        <p:spPr>
          <a:xfrm>
            <a:off x="3194125" y="4446733"/>
            <a:ext cx="6012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Nodejs, NPM e Express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4"/>
          <p:cNvSpPr txBox="1"/>
          <p:nvPr/>
        </p:nvSpPr>
        <p:spPr>
          <a:xfrm>
            <a:off x="1818321" y="2505450"/>
            <a:ext cx="8451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Vamos criar nossa primeira rota?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