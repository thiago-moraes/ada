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6858000" cx="12192000"/>
  <p:notesSz cx="6858000" cy="9144000"/>
  <p:embeddedFontLst>
    <p:embeddedFont>
      <p:font typeface="Ubuntu"/>
      <p:regular r:id="rId24"/>
      <p:bold r:id="rId25"/>
      <p:italic r:id="rId26"/>
      <p:boldItalic r:id="rId27"/>
    </p:embeddedFont>
    <p:embeddedFont>
      <p:font typeface="Robot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F552028-57E7-4D1E-83B8-97818DCD24FF}">
  <a:tblStyle styleId="{4F552028-57E7-4D1E-83B8-97818DCD24F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Ubuntu-regular.fntdata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buntu-italic.fntdata"/><Relationship Id="rId25" Type="http://schemas.openxmlformats.org/officeDocument/2006/relationships/font" Target="fonts/Ubuntu-bold.fntdata"/><Relationship Id="rId28" Type="http://schemas.openxmlformats.org/officeDocument/2006/relationships/font" Target="fonts/Roboto-regular.fntdata"/><Relationship Id="rId27" Type="http://schemas.openxmlformats.org/officeDocument/2006/relationships/font" Target="fonts/Ubuntu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-boldItalic.fntdata"/><Relationship Id="rId30" Type="http://schemas.openxmlformats.org/officeDocument/2006/relationships/font" Target="fonts/Roboto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f74fcc771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3ef74fcc771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f74fcc771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3ef74fcc771_0_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f74fcc77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ef74fcc771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f74fcc77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ef74fcc771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ef74fcc771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3ef74fcc771_0_1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f74fcc771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ef74fcc771_0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ef74fcc771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ef74fcc771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ef74fcc771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ef74fcc771_0_1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ef74fcc771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ef74fcc771_0_1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ef74fcc771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ef74fcc771_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ef74fcc771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ef74fcc771_0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ef74fcc771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ef74fcc771_0_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ef74fcc771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ef74fcc771_0_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ef74fcc771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ef74fcc771_0_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ef74fcc771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ef74fcc771_0_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hyperlink" Target="http://express.js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870471" y="2447925"/>
            <a:ext cx="84510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Arquitetura de Aplicações e APIs RESTful</a:t>
            </a:r>
            <a:r>
              <a:rPr b="1" lang="en-US" sz="4000">
                <a:solidFill>
                  <a:schemeClr val="lt1"/>
                </a:solidFill>
              </a:rPr>
              <a:t> </a:t>
            </a:r>
            <a:endParaRPr b="1" sz="4000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0" name="Google Shape;9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 txBox="1"/>
          <p:nvPr/>
        </p:nvSpPr>
        <p:spPr>
          <a:xfrm>
            <a:off x="1870471" y="2447925"/>
            <a:ext cx="8451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Arquitetura Monolitica</a:t>
            </a:r>
            <a:r>
              <a:rPr b="1" lang="en-US" sz="4000">
                <a:solidFill>
                  <a:schemeClr val="lt1"/>
                </a:solidFill>
              </a:rPr>
              <a:t> </a:t>
            </a:r>
            <a:endParaRPr b="1" sz="4000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6" name="Google Shape;9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5"/>
          <p:cNvSpPr txBox="1"/>
          <p:nvPr/>
        </p:nvSpPr>
        <p:spPr>
          <a:xfrm>
            <a:off x="981075" y="1490487"/>
            <a:ext cx="10417500" cy="37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3375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50"/>
              <a:buFont typeface="Ubuntu"/>
              <a:buChar char="●"/>
            </a:pPr>
            <a:r>
              <a:rPr lang="en-US" sz="1650">
                <a:latin typeface="Ubuntu"/>
                <a:ea typeface="Ubuntu"/>
                <a:cs typeface="Ubuntu"/>
                <a:sym typeface="Ubuntu"/>
              </a:rPr>
              <a:t>Integração da interface de usuário e acesso a dados em uma única solução.</a:t>
            </a:r>
            <a:endParaRPr sz="1650">
              <a:latin typeface="Ubuntu"/>
              <a:ea typeface="Ubuntu"/>
              <a:cs typeface="Ubuntu"/>
              <a:sym typeface="Ubuntu"/>
            </a:endParaRPr>
          </a:p>
          <a:p>
            <a:pPr indent="-333375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50"/>
              <a:buFont typeface="Ubuntu"/>
              <a:buChar char="●"/>
            </a:pPr>
            <a:r>
              <a:rPr b="1" lang="en-US" sz="1650">
                <a:latin typeface="Ubuntu"/>
                <a:ea typeface="Ubuntu"/>
                <a:cs typeface="Ubuntu"/>
                <a:sym typeface="Ubuntu"/>
              </a:rPr>
              <a:t>Compartilhamento de recursos:</a:t>
            </a:r>
            <a:endParaRPr sz="1650">
              <a:latin typeface="Ubuntu"/>
              <a:ea typeface="Ubuntu"/>
              <a:cs typeface="Ubuntu"/>
              <a:sym typeface="Ubuntu"/>
            </a:endParaRPr>
          </a:p>
          <a:p>
            <a:pPr indent="-333375" lvl="1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50"/>
              <a:buFont typeface="Ubuntu"/>
              <a:buChar char="○"/>
            </a:pPr>
            <a:r>
              <a:rPr lang="en-US" sz="1650">
                <a:latin typeface="Ubuntu"/>
                <a:ea typeface="Ubuntu"/>
                <a:cs typeface="Ubuntu"/>
                <a:sym typeface="Ubuntu"/>
              </a:rPr>
              <a:t>processamento, memória, banco de dados e arquivos.</a:t>
            </a:r>
            <a:endParaRPr sz="1650">
              <a:latin typeface="Ubuntu"/>
              <a:ea typeface="Ubuntu"/>
              <a:cs typeface="Ubuntu"/>
              <a:sym typeface="Ubuntu"/>
            </a:endParaRPr>
          </a:p>
          <a:p>
            <a:pPr indent="-333375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50"/>
              <a:buFont typeface="Ubuntu"/>
              <a:buChar char="●"/>
            </a:pPr>
            <a:r>
              <a:rPr b="1" lang="en-US" sz="1650">
                <a:latin typeface="Ubuntu"/>
                <a:ea typeface="Ubuntu"/>
                <a:cs typeface="Ubuntu"/>
                <a:sym typeface="Ubuntu"/>
              </a:rPr>
              <a:t>Vantagens</a:t>
            </a:r>
            <a:r>
              <a:rPr lang="en-US" sz="1650">
                <a:latin typeface="Ubuntu"/>
                <a:ea typeface="Ubuntu"/>
                <a:cs typeface="Ubuntu"/>
                <a:sym typeface="Ubuntu"/>
              </a:rPr>
              <a:t>:</a:t>
            </a:r>
            <a:endParaRPr sz="1650">
              <a:latin typeface="Ubuntu"/>
              <a:ea typeface="Ubuntu"/>
              <a:cs typeface="Ubuntu"/>
              <a:sym typeface="Ubuntu"/>
            </a:endParaRPr>
          </a:p>
          <a:p>
            <a:pPr indent="-333375" lvl="1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50"/>
              <a:buFont typeface="Ubuntu"/>
              <a:buChar char="○"/>
            </a:pPr>
            <a:r>
              <a:rPr lang="en-US" sz="1650">
                <a:latin typeface="Ubuntu"/>
                <a:ea typeface="Ubuntu"/>
                <a:cs typeface="Ubuntu"/>
                <a:sym typeface="Ubuntu"/>
              </a:rPr>
              <a:t>Desenvolvimento mais rápido, fácil implantação, performance de API e testes simplificados.</a:t>
            </a:r>
            <a:endParaRPr sz="1650">
              <a:latin typeface="Ubuntu"/>
              <a:ea typeface="Ubuntu"/>
              <a:cs typeface="Ubuntu"/>
              <a:sym typeface="Ubuntu"/>
            </a:endParaRPr>
          </a:p>
          <a:p>
            <a:pPr indent="-333375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50"/>
              <a:buFont typeface="Ubuntu"/>
              <a:buChar char="●"/>
            </a:pPr>
            <a:r>
              <a:rPr b="1" lang="en-US" sz="1650">
                <a:latin typeface="Ubuntu"/>
                <a:ea typeface="Ubuntu"/>
                <a:cs typeface="Ubuntu"/>
                <a:sym typeface="Ubuntu"/>
              </a:rPr>
              <a:t>Desvantagens</a:t>
            </a:r>
            <a:r>
              <a:rPr lang="en-US" sz="1650">
                <a:latin typeface="Ubuntu"/>
                <a:ea typeface="Ubuntu"/>
                <a:cs typeface="Ubuntu"/>
                <a:sym typeface="Ubuntu"/>
              </a:rPr>
              <a:t>:</a:t>
            </a:r>
            <a:endParaRPr sz="1650">
              <a:latin typeface="Ubuntu"/>
              <a:ea typeface="Ubuntu"/>
              <a:cs typeface="Ubuntu"/>
              <a:sym typeface="Ubuntu"/>
            </a:endParaRPr>
          </a:p>
          <a:p>
            <a:pPr indent="-333375" lvl="1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50"/>
              <a:buFont typeface="Ubuntu"/>
              <a:buChar char="○"/>
            </a:pPr>
            <a:r>
              <a:rPr lang="en-US" sz="1650">
                <a:latin typeface="Ubuntu"/>
                <a:ea typeface="Ubuntu"/>
                <a:cs typeface="Ubuntu"/>
                <a:sym typeface="Ubuntu"/>
              </a:rPr>
              <a:t>Complexidade crescente, acoplamento, escalabilidade limitada e menor flexibilidade de tecnologia.</a:t>
            </a:r>
            <a:br>
              <a:rPr lang="en-US" sz="1650">
                <a:latin typeface="Ubuntu"/>
                <a:ea typeface="Ubuntu"/>
                <a:cs typeface="Ubuntu"/>
                <a:sym typeface="Ubuntu"/>
              </a:rPr>
            </a:b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98" name="Google Shape;98;p15"/>
          <p:cNvSpPr txBox="1"/>
          <p:nvPr/>
        </p:nvSpPr>
        <p:spPr>
          <a:xfrm>
            <a:off x="571500" y="571500"/>
            <a:ext cx="9890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5088"/>
                </a:solidFill>
                <a:latin typeface="Ubuntu"/>
                <a:ea typeface="Ubuntu"/>
                <a:cs typeface="Ubuntu"/>
                <a:sym typeface="Ubuntu"/>
              </a:rPr>
              <a:t>Arquitetura Monolítica</a:t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99" name="Google Shape;99;p15"/>
          <p:cNvSpPr/>
          <p:nvPr/>
        </p:nvSpPr>
        <p:spPr>
          <a:xfrm>
            <a:off x="571500" y="1143000"/>
            <a:ext cx="3457575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6800" y="152400"/>
            <a:ext cx="7530657" cy="6553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9" name="Google Shape;10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7"/>
          <p:cNvSpPr txBox="1"/>
          <p:nvPr/>
        </p:nvSpPr>
        <p:spPr>
          <a:xfrm>
            <a:off x="1870471" y="2447925"/>
            <a:ext cx="84510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Arquitetura </a:t>
            </a:r>
            <a:r>
              <a:rPr b="1" lang="en-US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Arquitetura de Microsserviços</a:t>
            </a:r>
            <a:r>
              <a:rPr b="1" lang="en-US" sz="4000">
                <a:solidFill>
                  <a:schemeClr val="lt1"/>
                </a:solidFill>
              </a:rPr>
              <a:t> </a:t>
            </a:r>
            <a:endParaRPr b="1" sz="4000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5" name="Google Shape;11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8"/>
          <p:cNvSpPr txBox="1"/>
          <p:nvPr/>
        </p:nvSpPr>
        <p:spPr>
          <a:xfrm>
            <a:off x="694653" y="2264431"/>
            <a:ext cx="4593300" cy="22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3375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50"/>
              <a:buFont typeface="Ubuntu"/>
              <a:buChar char="●"/>
            </a:pPr>
            <a:r>
              <a:rPr b="1" lang="en-US" sz="1650">
                <a:latin typeface="Ubuntu"/>
                <a:ea typeface="Ubuntu"/>
                <a:cs typeface="Ubuntu"/>
                <a:sym typeface="Ubuntu"/>
              </a:rPr>
              <a:t>Vantagens</a:t>
            </a:r>
            <a:r>
              <a:rPr lang="en-US" sz="1650">
                <a:latin typeface="Ubuntu"/>
                <a:ea typeface="Ubuntu"/>
                <a:cs typeface="Ubuntu"/>
                <a:sym typeface="Ubuntu"/>
              </a:rPr>
              <a:t>: </a:t>
            </a:r>
            <a:endParaRPr sz="1650">
              <a:latin typeface="Ubuntu"/>
              <a:ea typeface="Ubuntu"/>
              <a:cs typeface="Ubuntu"/>
              <a:sym typeface="Ubuntu"/>
            </a:endParaRPr>
          </a:p>
          <a:p>
            <a:pPr indent="-333375" lvl="1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50"/>
              <a:buFont typeface="Ubuntu"/>
              <a:buChar char="○"/>
            </a:pPr>
            <a:r>
              <a:rPr lang="en-US" sz="1650">
                <a:latin typeface="Ubuntu"/>
                <a:ea typeface="Ubuntu"/>
                <a:cs typeface="Ubuntu"/>
                <a:sym typeface="Ubuntu"/>
              </a:rPr>
              <a:t>Baixo acoplamento</a:t>
            </a:r>
            <a:endParaRPr sz="1650">
              <a:latin typeface="Ubuntu"/>
              <a:ea typeface="Ubuntu"/>
              <a:cs typeface="Ubuntu"/>
              <a:sym typeface="Ubuntu"/>
            </a:endParaRPr>
          </a:p>
          <a:p>
            <a:pPr indent="-333375" lvl="1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50"/>
              <a:buFont typeface="Ubuntu"/>
              <a:buChar char="○"/>
            </a:pPr>
            <a:r>
              <a:rPr lang="en-US" sz="1650">
                <a:latin typeface="Ubuntu"/>
                <a:ea typeface="Ubuntu"/>
                <a:cs typeface="Ubuntu"/>
                <a:sym typeface="Ubuntu"/>
              </a:rPr>
              <a:t> escalabilidade horizontal</a:t>
            </a:r>
            <a:endParaRPr sz="1650">
              <a:latin typeface="Ubuntu"/>
              <a:ea typeface="Ubuntu"/>
              <a:cs typeface="Ubuntu"/>
              <a:sym typeface="Ubuntu"/>
            </a:endParaRPr>
          </a:p>
          <a:p>
            <a:pPr indent="-333375" lvl="1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50"/>
              <a:buFont typeface="Ubuntu"/>
              <a:buChar char="○"/>
            </a:pPr>
            <a:r>
              <a:rPr lang="en-US" sz="1650">
                <a:latin typeface="Ubuntu"/>
                <a:ea typeface="Ubuntu"/>
                <a:cs typeface="Ubuntu"/>
                <a:sym typeface="Ubuntu"/>
              </a:rPr>
              <a:t> controle de custos</a:t>
            </a:r>
            <a:endParaRPr sz="1650">
              <a:latin typeface="Ubuntu"/>
              <a:ea typeface="Ubuntu"/>
              <a:cs typeface="Ubuntu"/>
              <a:sym typeface="Ubuntu"/>
            </a:endParaRPr>
          </a:p>
          <a:p>
            <a:pPr indent="-333375" lvl="1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50"/>
              <a:buFont typeface="Ubuntu"/>
              <a:buChar char="○"/>
            </a:pPr>
            <a:r>
              <a:rPr lang="en-US" sz="1650">
                <a:latin typeface="Ubuntu"/>
                <a:ea typeface="Ubuntu"/>
                <a:cs typeface="Ubuntu"/>
                <a:sym typeface="Ubuntu"/>
              </a:rPr>
              <a:t>flexibilidade tecnológica.</a:t>
            </a:r>
            <a:endParaRPr sz="1650"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17" name="Google Shape;117;p18"/>
          <p:cNvSpPr txBox="1"/>
          <p:nvPr/>
        </p:nvSpPr>
        <p:spPr>
          <a:xfrm>
            <a:off x="571500" y="571500"/>
            <a:ext cx="9890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5088"/>
                </a:solidFill>
                <a:latin typeface="Ubuntu"/>
                <a:ea typeface="Ubuntu"/>
                <a:cs typeface="Ubuntu"/>
                <a:sym typeface="Ubuntu"/>
              </a:rPr>
              <a:t>Arquitetura de Microsserviços</a:t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18" name="Google Shape;118;p18"/>
          <p:cNvSpPr/>
          <p:nvPr/>
        </p:nvSpPr>
        <p:spPr>
          <a:xfrm>
            <a:off x="571500" y="1143000"/>
            <a:ext cx="3457500" cy="285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8"/>
          <p:cNvSpPr txBox="1"/>
          <p:nvPr/>
        </p:nvSpPr>
        <p:spPr>
          <a:xfrm>
            <a:off x="6005903" y="2172031"/>
            <a:ext cx="5337900" cy="24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337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Ubuntu"/>
              <a:buChar char="●"/>
            </a:pPr>
            <a:r>
              <a:rPr b="1" lang="en-US" sz="165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Desvantagens</a:t>
            </a:r>
            <a:r>
              <a:rPr lang="en-US" sz="165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:</a:t>
            </a:r>
            <a:endParaRPr sz="165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-333375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Ubuntu"/>
              <a:buChar char="○"/>
            </a:pPr>
            <a:r>
              <a:rPr lang="en-US" sz="165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Maior complexidade</a:t>
            </a:r>
            <a:endParaRPr sz="165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-333375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Ubuntu"/>
              <a:buChar char="○"/>
            </a:pPr>
            <a:r>
              <a:rPr lang="en-US" sz="165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 gestão de infraestrutura</a:t>
            </a:r>
            <a:endParaRPr sz="165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-333375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Ubuntu"/>
              <a:buChar char="○"/>
            </a:pPr>
            <a:r>
              <a:rPr lang="en-US" sz="165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necessidade de alinhamento entre equipes</a:t>
            </a:r>
            <a:endParaRPr sz="165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-333375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Ubuntu"/>
              <a:buChar char="○"/>
            </a:pPr>
            <a:r>
              <a:rPr lang="en-US" sz="165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desafio no troubleshooting.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8"/>
          <p:cNvSpPr txBox="1"/>
          <p:nvPr/>
        </p:nvSpPr>
        <p:spPr>
          <a:xfrm>
            <a:off x="563050" y="1441425"/>
            <a:ext cx="7950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Aplicações funcionam de forma independente, mas interagem entre si.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8"/>
          <p:cNvSpPr txBox="1"/>
          <p:nvPr/>
        </p:nvSpPr>
        <p:spPr>
          <a:xfrm>
            <a:off x="608100" y="5972500"/>
            <a:ext cx="1114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Troubleshooting 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 o processo sistemático de identificação, diagnóstico e resolução de problemas em sistemas, equipamentos ou processos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" name="Google Shape;12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76425" y="385763"/>
            <a:ext cx="8439150" cy="608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0"/>
          <p:cNvSpPr txBox="1"/>
          <p:nvPr/>
        </p:nvSpPr>
        <p:spPr>
          <a:xfrm>
            <a:off x="1870471" y="3133725"/>
            <a:ext cx="8451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Construindo APIs com Express.js</a:t>
            </a:r>
            <a:endParaRPr sz="3200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34" name="Google Shape;134;p20"/>
          <p:cNvSpPr txBox="1"/>
          <p:nvPr/>
        </p:nvSpPr>
        <p:spPr>
          <a:xfrm>
            <a:off x="2375425" y="2368425"/>
            <a:ext cx="7700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 Papel das APIs</a:t>
            </a:r>
            <a:endParaRPr b="1"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1"/>
          <p:cNvSpPr txBox="1"/>
          <p:nvPr/>
        </p:nvSpPr>
        <p:spPr>
          <a:xfrm>
            <a:off x="571500" y="571500"/>
            <a:ext cx="9890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5088"/>
                </a:solidFill>
                <a:latin typeface="Ubuntu"/>
                <a:ea typeface="Ubuntu"/>
                <a:cs typeface="Ubuntu"/>
                <a:sym typeface="Ubuntu"/>
              </a:rPr>
              <a:t>Tipos de API`s</a:t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41" name="Google Shape;141;p21"/>
          <p:cNvSpPr/>
          <p:nvPr/>
        </p:nvSpPr>
        <p:spPr>
          <a:xfrm>
            <a:off x="571500" y="1143000"/>
            <a:ext cx="3457500" cy="285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1"/>
          <p:cNvSpPr txBox="1"/>
          <p:nvPr/>
        </p:nvSpPr>
        <p:spPr>
          <a:xfrm>
            <a:off x="596850" y="1861450"/>
            <a:ext cx="10386000" cy="29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337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Ubuntu"/>
              <a:buChar char="●"/>
            </a:pPr>
            <a:r>
              <a:rPr b="1" lang="en-US" sz="165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Pública </a:t>
            </a:r>
            <a:r>
              <a:rPr lang="en-US" sz="165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- construídas para que desenvolvedores fora da organização possam realizar integrações a serviços existentes</a:t>
            </a:r>
            <a:endParaRPr sz="165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-33337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Ubuntu"/>
              <a:buChar char="●"/>
            </a:pPr>
            <a:r>
              <a:rPr b="1" lang="en-US" sz="165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Externa </a:t>
            </a:r>
            <a:r>
              <a:rPr lang="en-US" sz="165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- desenhadas para serem públicas, porém destinadas à integração com outra organização (empresa) devidamente autorizada.</a:t>
            </a:r>
            <a:endParaRPr sz="165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-33337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Ubuntu"/>
              <a:buChar char="●"/>
            </a:pPr>
            <a:r>
              <a:rPr b="1" lang="en-US" sz="165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Interna </a:t>
            </a:r>
            <a:r>
              <a:rPr lang="en-US" sz="165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- tem por característica principal serem completamente inacessíveis fora da organização (empresa), mas podem ser agregadas a APIs Externas.</a:t>
            </a:r>
            <a:endParaRPr sz="165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7" name="Google Shape;14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2"/>
          <p:cNvSpPr txBox="1"/>
          <p:nvPr/>
        </p:nvSpPr>
        <p:spPr>
          <a:xfrm>
            <a:off x="571500" y="571500"/>
            <a:ext cx="9890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5088"/>
                </a:solidFill>
                <a:latin typeface="Ubuntu"/>
                <a:ea typeface="Ubuntu"/>
                <a:cs typeface="Ubuntu"/>
                <a:sym typeface="Ubuntu"/>
              </a:rPr>
              <a:t>Terminologias Comuns</a:t>
            </a:r>
            <a:endParaRPr b="1" sz="3600">
              <a:solidFill>
                <a:srgbClr val="005088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49" name="Google Shape;149;p22"/>
          <p:cNvSpPr/>
          <p:nvPr/>
        </p:nvSpPr>
        <p:spPr>
          <a:xfrm>
            <a:off x="571500" y="1143000"/>
            <a:ext cx="3457500" cy="285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2"/>
          <p:cNvSpPr txBox="1"/>
          <p:nvPr/>
        </p:nvSpPr>
        <p:spPr>
          <a:xfrm>
            <a:off x="596850" y="1632850"/>
            <a:ext cx="10386000" cy="3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337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Ubuntu"/>
              <a:buChar char="●"/>
            </a:pPr>
            <a:r>
              <a:rPr b="1" lang="en-US" sz="165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Endpoint </a:t>
            </a:r>
            <a:r>
              <a:rPr lang="en-US" sz="165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- um endereço (URL) que executa uma determinada ação quando invocado</a:t>
            </a:r>
            <a:endParaRPr sz="165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-33337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Ubuntu"/>
              <a:buChar char="●"/>
            </a:pPr>
            <a:r>
              <a:rPr b="1" lang="en-US" sz="165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Parameter </a:t>
            </a:r>
            <a:r>
              <a:rPr lang="en-US" sz="165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- um ou mais dados que podem ser enviados a API</a:t>
            </a:r>
            <a:endParaRPr sz="165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-33337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Ubuntu"/>
              <a:buChar char="●"/>
            </a:pPr>
            <a:r>
              <a:rPr b="1" lang="en-US" sz="165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API Call</a:t>
            </a:r>
            <a:r>
              <a:rPr lang="en-US" sz="165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 - Requisição à uma API</a:t>
            </a:r>
            <a:endParaRPr sz="165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-33337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Ubuntu"/>
              <a:buChar char="●"/>
            </a:pPr>
            <a:r>
              <a:rPr b="1" lang="en-US" sz="165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Stateless </a:t>
            </a:r>
            <a:r>
              <a:rPr lang="en-US" sz="165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- processos onde os recursos consumidos não podem ser reutilizados, ou seja, nenhuma informação relativa a execuções anteriores é armazenada</a:t>
            </a:r>
            <a:endParaRPr sz="165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-33337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Ubuntu"/>
              <a:buChar char="●"/>
            </a:pPr>
            <a:r>
              <a:rPr b="1" lang="en-US" sz="165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API Keys</a:t>
            </a:r>
            <a:r>
              <a:rPr lang="en-US" sz="165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 - promovem uma camada de autenticação e autorização para o consumo dos endpoints</a:t>
            </a:r>
            <a:endParaRPr sz="165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-33337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Ubuntu"/>
              <a:buChar char="●"/>
            </a:pPr>
            <a:r>
              <a:rPr b="1" lang="en-US" sz="165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CORs </a:t>
            </a:r>
            <a:r>
              <a:rPr lang="en-US" sz="165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- quando devidamente configurado, permite que requisições provenientes de outros domínios sejam corretamente atendidas pela API</a:t>
            </a:r>
            <a:endParaRPr sz="165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51" name="Google Shape;151;p22"/>
          <p:cNvSpPr txBox="1"/>
          <p:nvPr/>
        </p:nvSpPr>
        <p:spPr>
          <a:xfrm>
            <a:off x="503625" y="6131025"/>
            <a:ext cx="11342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Cross-Origin Resource Sharing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ou, em português, </a:t>
            </a: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Compartilhamento de Recursos de Origem Cruzada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é um mecanismo de segurança essencial implementado pelos navegadores web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3"/>
          <p:cNvSpPr txBox="1"/>
          <p:nvPr/>
        </p:nvSpPr>
        <p:spPr>
          <a:xfrm>
            <a:off x="571500" y="571500"/>
            <a:ext cx="9890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5088"/>
                </a:solidFill>
                <a:latin typeface="Ubuntu"/>
                <a:ea typeface="Ubuntu"/>
                <a:cs typeface="Ubuntu"/>
                <a:sym typeface="Ubuntu"/>
              </a:rPr>
              <a:t>API`s com Express</a:t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58" name="Google Shape;158;p23"/>
          <p:cNvSpPr/>
          <p:nvPr/>
        </p:nvSpPr>
        <p:spPr>
          <a:xfrm>
            <a:off x="571500" y="1143000"/>
            <a:ext cx="3457500" cy="285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3"/>
          <p:cNvSpPr txBox="1"/>
          <p:nvPr/>
        </p:nvSpPr>
        <p:spPr>
          <a:xfrm>
            <a:off x="596850" y="2166250"/>
            <a:ext cx="10386000" cy="19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O </a:t>
            </a:r>
            <a:r>
              <a:rPr lang="en-US" sz="1650" u="sng">
                <a:solidFill>
                  <a:schemeClr val="hlink"/>
                </a:solidFill>
                <a:latin typeface="Ubuntu"/>
                <a:ea typeface="Ubuntu"/>
                <a:cs typeface="Ubuntu"/>
                <a:sym typeface="Ubuntu"/>
                <a:hlinkClick r:id="rId4"/>
              </a:rPr>
              <a:t>Express.js</a:t>
            </a:r>
            <a:r>
              <a:rPr lang="en-US" sz="165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 é usado para criar as API`s e desacoplar a interface do usuário da camada de dados e muitas vezes para comunicação com outras API`s.</a:t>
            </a:r>
            <a:endParaRPr sz="165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Objetivo:</a:t>
            </a:r>
            <a:endParaRPr sz="165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45720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Normalizar a construção e o consumo de APIs baseadas no modelo CRUD.</a:t>
            </a:r>
            <a:endParaRPr sz="165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60" name="Google Shape;160;p23"/>
          <p:cNvSpPr txBox="1"/>
          <p:nvPr/>
        </p:nvSpPr>
        <p:spPr>
          <a:xfrm>
            <a:off x="311025" y="5998500"/>
            <a:ext cx="1188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API 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 um acrônimo em inglês para Application Programming Interface. Em português, significa Interface de Programação de Aplicações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5" name="Google Shape;16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4"/>
          <p:cNvSpPr txBox="1"/>
          <p:nvPr/>
        </p:nvSpPr>
        <p:spPr>
          <a:xfrm>
            <a:off x="1870471" y="3133725"/>
            <a:ext cx="8451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Fundamentos RESTful</a:t>
            </a:r>
            <a:endParaRPr sz="3200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67" name="Google Shape;167;p24"/>
          <p:cNvSpPr txBox="1"/>
          <p:nvPr/>
        </p:nvSpPr>
        <p:spPr>
          <a:xfrm>
            <a:off x="2375425" y="2368425"/>
            <a:ext cx="7700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 Padrão RESTful</a:t>
            </a:r>
            <a:endParaRPr b="1"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2" name="Google Shape;17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5"/>
          <p:cNvSpPr txBox="1"/>
          <p:nvPr/>
        </p:nvSpPr>
        <p:spPr>
          <a:xfrm>
            <a:off x="981075" y="2481087"/>
            <a:ext cx="104175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3375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50"/>
              <a:buFont typeface="Ubuntu"/>
              <a:buChar char="●"/>
            </a:pPr>
            <a:r>
              <a:rPr lang="en-US" sz="1650">
                <a:latin typeface="Ubuntu"/>
                <a:ea typeface="Ubuntu"/>
                <a:cs typeface="Ubuntu"/>
                <a:sym typeface="Ubuntu"/>
              </a:rPr>
              <a:t>Comunicação entre Client e Server via HTTP.</a:t>
            </a:r>
            <a:endParaRPr sz="1650">
              <a:latin typeface="Ubuntu"/>
              <a:ea typeface="Ubuntu"/>
              <a:cs typeface="Ubuntu"/>
              <a:sym typeface="Ubuntu"/>
            </a:endParaRPr>
          </a:p>
          <a:p>
            <a:pPr indent="-333375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50"/>
              <a:buFont typeface="Ubuntu"/>
              <a:buChar char="●"/>
            </a:pPr>
            <a:r>
              <a:rPr b="1" lang="en-US" sz="1650">
                <a:latin typeface="Ubuntu"/>
                <a:ea typeface="Ubuntu"/>
                <a:cs typeface="Ubuntu"/>
                <a:sym typeface="Ubuntu"/>
              </a:rPr>
              <a:t>Desacoplamento</a:t>
            </a:r>
            <a:r>
              <a:rPr lang="en-US" sz="1650">
                <a:latin typeface="Ubuntu"/>
                <a:ea typeface="Ubuntu"/>
                <a:cs typeface="Ubuntu"/>
                <a:sym typeface="Ubuntu"/>
              </a:rPr>
              <a:t>: transmissão de dados (JSON, XML) sem depender da interface.</a:t>
            </a:r>
            <a:endParaRPr sz="1650">
              <a:latin typeface="Ubuntu"/>
              <a:ea typeface="Ubuntu"/>
              <a:cs typeface="Ubuntu"/>
              <a:sym typeface="Ubuntu"/>
            </a:endParaRPr>
          </a:p>
          <a:p>
            <a:pPr indent="-333375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50"/>
              <a:buFont typeface="Ubuntu"/>
              <a:buChar char="●"/>
            </a:pPr>
            <a:r>
              <a:rPr b="1" lang="en-US" sz="1650">
                <a:latin typeface="Ubuntu"/>
                <a:ea typeface="Ubuntu"/>
                <a:cs typeface="Ubuntu"/>
                <a:sym typeface="Ubuntu"/>
              </a:rPr>
              <a:t>Princípio Stateless</a:t>
            </a:r>
            <a:r>
              <a:rPr lang="en-US" sz="1650">
                <a:latin typeface="Ubuntu"/>
                <a:ea typeface="Ubuntu"/>
                <a:cs typeface="Ubuntu"/>
                <a:sym typeface="Ubuntu"/>
              </a:rPr>
              <a:t>: cada interação com o servidor não mantém estado.</a:t>
            </a:r>
            <a:endParaRPr sz="1650"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74" name="Google Shape;174;p25"/>
          <p:cNvSpPr txBox="1"/>
          <p:nvPr/>
        </p:nvSpPr>
        <p:spPr>
          <a:xfrm>
            <a:off x="571500" y="571500"/>
            <a:ext cx="9890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5088"/>
                </a:solidFill>
                <a:latin typeface="Ubuntu"/>
                <a:ea typeface="Ubuntu"/>
                <a:cs typeface="Ubuntu"/>
                <a:sym typeface="Ubuntu"/>
              </a:rPr>
              <a:t>Fundamentos RESTful</a:t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75" name="Google Shape;175;p25"/>
          <p:cNvSpPr/>
          <p:nvPr/>
        </p:nvSpPr>
        <p:spPr>
          <a:xfrm>
            <a:off x="571500" y="1143000"/>
            <a:ext cx="3457500" cy="285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0" name="Google Shape;18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6"/>
          <p:cNvSpPr txBox="1"/>
          <p:nvPr/>
        </p:nvSpPr>
        <p:spPr>
          <a:xfrm>
            <a:off x="1870475" y="3133725"/>
            <a:ext cx="8956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Mapeando Operações CRUD para Métodos HTTP</a:t>
            </a:r>
            <a:endParaRPr sz="3200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82" name="Google Shape;182;p26"/>
          <p:cNvSpPr txBox="1"/>
          <p:nvPr/>
        </p:nvSpPr>
        <p:spPr>
          <a:xfrm>
            <a:off x="2375425" y="2368425"/>
            <a:ext cx="7700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Modelagem CRUD e HTTP</a:t>
            </a:r>
            <a:endParaRPr b="1"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7" name="Google Shape;18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7"/>
          <p:cNvSpPr txBox="1"/>
          <p:nvPr/>
        </p:nvSpPr>
        <p:spPr>
          <a:xfrm>
            <a:off x="571500" y="571500"/>
            <a:ext cx="9890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5088"/>
                </a:solidFill>
                <a:latin typeface="Ubuntu"/>
                <a:ea typeface="Ubuntu"/>
                <a:cs typeface="Ubuntu"/>
                <a:sym typeface="Ubuntu"/>
              </a:rPr>
              <a:t>Fundamentos RESTful</a:t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89" name="Google Shape;189;p27"/>
          <p:cNvSpPr/>
          <p:nvPr/>
        </p:nvSpPr>
        <p:spPr>
          <a:xfrm>
            <a:off x="571500" y="1143000"/>
            <a:ext cx="3457500" cy="285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0" name="Google Shape;190;p27"/>
          <p:cNvGraphicFramePr/>
          <p:nvPr/>
        </p:nvGraphicFramePr>
        <p:xfrm>
          <a:off x="952500" y="17824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{4F552028-57E7-4D1E-83B8-97818DCD24FF}</a:tableStyleId>
              </a:tblPr>
              <a:tblGrid>
                <a:gridCol w="1244475"/>
                <a:gridCol w="1195250"/>
                <a:gridCol w="1482600"/>
                <a:gridCol w="1802850"/>
                <a:gridCol w="45618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Ação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Verbo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Rota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Status code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Create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POST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/customers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201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Cria um registro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Retrieve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GET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/customers</a:t>
                      </a:r>
                      <a:endParaRPr/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/customers/1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200</a:t>
                      </a:r>
                      <a:endParaRPr/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Recupera todos os clientes</a:t>
                      </a:r>
                      <a:endParaRPr/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Recupera registro específico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Update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PUT</a:t>
                      </a:r>
                      <a:endParaRPr/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PATCH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/customers/1</a:t>
                      </a:r>
                      <a:endParaRPr/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/customers/1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204</a:t>
                      </a:r>
                      <a:endParaRPr/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204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Atualiza todo o registro</a:t>
                      </a:r>
                      <a:endParaRPr/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Atualiza parte do registro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Delete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DELETE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/customers/1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204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Exclui um registro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5" name="Google Shape;19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8"/>
          <p:cNvSpPr txBox="1"/>
          <p:nvPr/>
        </p:nvSpPr>
        <p:spPr>
          <a:xfrm>
            <a:off x="1870475" y="3133725"/>
            <a:ext cx="8956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Organização de um Projeto RESTful (Express.js)</a:t>
            </a:r>
            <a:endParaRPr sz="3200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97" name="Google Shape;197;p28"/>
          <p:cNvSpPr txBox="1"/>
          <p:nvPr/>
        </p:nvSpPr>
        <p:spPr>
          <a:xfrm>
            <a:off x="2375425" y="2368425"/>
            <a:ext cx="7700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Estrutura do nosso Projeto</a:t>
            </a:r>
            <a:endParaRPr b="1"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2" name="Google Shape;20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9"/>
          <p:cNvSpPr txBox="1"/>
          <p:nvPr/>
        </p:nvSpPr>
        <p:spPr>
          <a:xfrm>
            <a:off x="981075" y="1900829"/>
            <a:ext cx="10417500" cy="22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3375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50"/>
              <a:buFont typeface="Ubuntu"/>
              <a:buChar char="●"/>
            </a:pPr>
            <a:r>
              <a:rPr lang="en-US" sz="1650">
                <a:latin typeface="Ubuntu"/>
                <a:ea typeface="Ubuntu"/>
                <a:cs typeface="Ubuntu"/>
                <a:sym typeface="Ubuntu"/>
              </a:rPr>
              <a:t>src: Ponto de entrada (app.js).</a:t>
            </a:r>
            <a:endParaRPr sz="1650">
              <a:latin typeface="Ubuntu"/>
              <a:ea typeface="Ubuntu"/>
              <a:cs typeface="Ubuntu"/>
              <a:sym typeface="Ubuntu"/>
            </a:endParaRPr>
          </a:p>
          <a:p>
            <a:pPr indent="-333375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50"/>
              <a:buFont typeface="Ubuntu"/>
              <a:buChar char="●"/>
            </a:pPr>
            <a:r>
              <a:rPr lang="en-US" sz="1650">
                <a:latin typeface="Ubuntu"/>
                <a:ea typeface="Ubuntu"/>
                <a:cs typeface="Ubuntu"/>
                <a:sym typeface="Ubuntu"/>
              </a:rPr>
              <a:t>routes: Definição de rotas (express.Router).</a:t>
            </a:r>
            <a:endParaRPr sz="1650">
              <a:latin typeface="Ubuntu"/>
              <a:ea typeface="Ubuntu"/>
              <a:cs typeface="Ubuntu"/>
              <a:sym typeface="Ubuntu"/>
            </a:endParaRPr>
          </a:p>
          <a:p>
            <a:pPr indent="-333375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50"/>
              <a:buFont typeface="Ubuntu"/>
              <a:buChar char="●"/>
            </a:pPr>
            <a:r>
              <a:rPr lang="en-US" sz="1650">
                <a:latin typeface="Ubuntu"/>
                <a:ea typeface="Ubuntu"/>
                <a:cs typeface="Ubuntu"/>
                <a:sym typeface="Ubuntu"/>
              </a:rPr>
              <a:t>controllers: Lógica da aplicação.</a:t>
            </a:r>
            <a:endParaRPr sz="1650">
              <a:latin typeface="Ubuntu"/>
              <a:ea typeface="Ubuntu"/>
              <a:cs typeface="Ubuntu"/>
              <a:sym typeface="Ubuntu"/>
            </a:endParaRPr>
          </a:p>
          <a:p>
            <a:pPr indent="-333375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50"/>
              <a:buFont typeface="Ubuntu"/>
              <a:buChar char="●"/>
            </a:pPr>
            <a:r>
              <a:rPr lang="en-US" sz="1650">
                <a:latin typeface="Ubuntu"/>
                <a:ea typeface="Ubuntu"/>
                <a:cs typeface="Ubuntu"/>
                <a:sym typeface="Ubuntu"/>
              </a:rPr>
              <a:t>dao: Camada de acesso a dados.</a:t>
            </a:r>
            <a:endParaRPr sz="1650">
              <a:latin typeface="Ubuntu"/>
              <a:ea typeface="Ubuntu"/>
              <a:cs typeface="Ubuntu"/>
              <a:sym typeface="Ubuntu"/>
            </a:endParaRPr>
          </a:p>
          <a:p>
            <a:pPr indent="-333375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50"/>
              <a:buFont typeface="Ubuntu"/>
              <a:buChar char="●"/>
            </a:pPr>
            <a:r>
              <a:rPr lang="en-US" sz="1650">
                <a:latin typeface="Ubuntu"/>
                <a:ea typeface="Ubuntu"/>
                <a:cs typeface="Ubuntu"/>
                <a:sym typeface="Ubuntu"/>
              </a:rPr>
              <a:t>infra: Artefatos e configurações (banco de dados).</a:t>
            </a:r>
            <a:endParaRPr sz="1650"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04" name="Google Shape;204;p29"/>
          <p:cNvSpPr txBox="1"/>
          <p:nvPr/>
        </p:nvSpPr>
        <p:spPr>
          <a:xfrm>
            <a:off x="571500" y="571500"/>
            <a:ext cx="9890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5088"/>
                </a:solidFill>
                <a:latin typeface="Ubuntu"/>
                <a:ea typeface="Ubuntu"/>
                <a:cs typeface="Ubuntu"/>
                <a:sym typeface="Ubuntu"/>
              </a:rPr>
              <a:t>Fundamentos RESTful</a:t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05" name="Google Shape;205;p29"/>
          <p:cNvSpPr/>
          <p:nvPr/>
        </p:nvSpPr>
        <p:spPr>
          <a:xfrm>
            <a:off x="571500" y="1143000"/>
            <a:ext cx="3457500" cy="285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